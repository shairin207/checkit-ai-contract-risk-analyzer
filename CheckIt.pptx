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4" r:id="rId6"/>
    <p:sldId id="321" r:id="rId7"/>
    <p:sldId id="326" r:id="rId8"/>
    <p:sldId id="319" r:id="rId9"/>
    <p:sldId id="318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2D6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5388" autoAdjust="0"/>
  </p:normalViewPr>
  <p:slideViewPr>
    <p:cSldViewPr snapToGrid="0">
      <p:cViewPr varScale="1">
        <p:scale>
          <a:sx n="74" d="100"/>
          <a:sy n="74" d="100"/>
        </p:scale>
        <p:origin x="1080" y="7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  <p:transition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  <p:transition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transition>
    <p:cover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btf5uppJQ6KOjm7Ys8s8pISQU1wWf9Ua/view?usp=drive_lin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42" y="2150918"/>
            <a:ext cx="10255260" cy="3408218"/>
          </a:xfrm>
        </p:spPr>
        <p:txBody>
          <a:bodyPr>
            <a:normAutofit/>
          </a:bodyPr>
          <a:lstStyle/>
          <a:p>
            <a:pPr marL="635">
              <a:lnSpc>
                <a:spcPct val="107000"/>
              </a:lnSpc>
              <a:spcAft>
                <a:spcPts val="90"/>
              </a:spcAft>
            </a:pPr>
            <a:r>
              <a:rPr lang="en-SG" sz="13800" b="1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CheckIt</a:t>
            </a:r>
            <a:br>
              <a:rPr lang="en-SG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SG" sz="2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Assisted Employment Contract Risk </a:t>
            </a:r>
            <a:r>
              <a:rPr lang="en-SG" sz="28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endParaRPr lang="en-SG" kern="1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p:transition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F6B9-67E8-C039-AE72-80707B4B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32" y="1608041"/>
            <a:ext cx="9745818" cy="2133600"/>
          </a:xfrm>
        </p:spPr>
        <p:txBody>
          <a:bodyPr>
            <a:normAutofit fontScale="90000"/>
          </a:bodyPr>
          <a:lstStyle/>
          <a:p>
            <a:pPr>
              <a:lnSpc>
                <a:spcPct val="250000"/>
              </a:lnSpc>
            </a:pPr>
            <a:r>
              <a:rPr lang="en-US" sz="2400" b="1" dirty="0">
                <a:latin typeface="Aptos Display" panose="020B0004020202020204" pitchFamily="34" charset="0"/>
              </a:rPr>
              <a:t>Course Title:</a:t>
            </a:r>
            <a:r>
              <a:rPr lang="en-US" sz="2400" dirty="0">
                <a:latin typeface="Aptos Display" panose="020B0004020202020204" pitchFamily="34" charset="0"/>
              </a:rPr>
              <a:t> Entrepreneurship &amp; Project Management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b="1" dirty="0">
                <a:latin typeface="Aptos Display" panose="020B0004020202020204" pitchFamily="34" charset="0"/>
              </a:rPr>
              <a:t>Course Code:</a:t>
            </a:r>
            <a:r>
              <a:rPr lang="en-US" sz="2400" dirty="0">
                <a:latin typeface="Aptos Display" panose="020B0004020202020204" pitchFamily="34" charset="0"/>
              </a:rPr>
              <a:t> AIML501                </a:t>
            </a:r>
            <a:r>
              <a:rPr lang="en-US" sz="2400" b="1" dirty="0">
                <a:latin typeface="Aptos Display" panose="020B0004020202020204" pitchFamily="34" charset="0"/>
              </a:rPr>
              <a:t>Semester:</a:t>
            </a:r>
            <a:r>
              <a:rPr lang="en-US" sz="2400" dirty="0">
                <a:latin typeface="Aptos Display" panose="020B0004020202020204" pitchFamily="34" charset="0"/>
              </a:rPr>
              <a:t> Summer 2026             </a:t>
            </a:r>
            <a:r>
              <a:rPr lang="en-US" sz="2400" b="1" dirty="0">
                <a:latin typeface="Aptos Display" panose="020B0004020202020204" pitchFamily="34" charset="0"/>
              </a:rPr>
              <a:t>Section:</a:t>
            </a:r>
            <a:r>
              <a:rPr lang="en-US" sz="2400" dirty="0">
                <a:latin typeface="Aptos Display" panose="020B0004020202020204" pitchFamily="34" charset="0"/>
              </a:rPr>
              <a:t> 01</a:t>
            </a:r>
            <a:br>
              <a:rPr lang="en-US" sz="2400" dirty="0">
                <a:latin typeface="Aptos Display" panose="020B0004020202020204" pitchFamily="34" charset="0"/>
              </a:rPr>
            </a:br>
            <a:br>
              <a:rPr lang="en-US" sz="2400" dirty="0">
                <a:latin typeface="Aptos Display" panose="020B0004020202020204" pitchFamily="34" charset="0"/>
              </a:rPr>
            </a:br>
            <a:br>
              <a:rPr lang="en-US" sz="2400" dirty="0">
                <a:latin typeface="Aptos Display" panose="020B0004020202020204" pitchFamily="34" charset="0"/>
              </a:rPr>
            </a:br>
            <a:endParaRPr lang="en-SG" sz="2400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0977-948C-5A16-E5FB-3519675222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z="2400" smtClean="0">
                <a:latin typeface="Aptos Display" panose="020B0004020202020204" pitchFamily="34" charset="0"/>
              </a:rPr>
              <a:pPr/>
              <a:t>2</a:t>
            </a:fld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A50A8-A0C1-0125-18EF-E8E348A200CD}"/>
              </a:ext>
            </a:extLst>
          </p:cNvPr>
          <p:cNvSpPr txBox="1"/>
          <p:nvPr/>
        </p:nvSpPr>
        <p:spPr>
          <a:xfrm>
            <a:off x="1223091" y="3161836"/>
            <a:ext cx="609361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Submitted By</a:t>
            </a:r>
          </a:p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Shairin Akter Hashi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ID: 2026-2-74-022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2127E414-79DD-B301-4BEE-706350457CC5}"/>
              </a:ext>
            </a:extLst>
          </p:cNvPr>
          <p:cNvSpPr txBox="1"/>
          <p:nvPr/>
        </p:nvSpPr>
        <p:spPr>
          <a:xfrm>
            <a:off x="5027324" y="3161836"/>
            <a:ext cx="6727397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Submitted To</a:t>
            </a:r>
          </a:p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Khaza Newaz Muhammad, PMP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Adjunct Faculty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Department of Computer Science &amp; Engineering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East West University</a:t>
            </a:r>
          </a:p>
        </p:txBody>
      </p:sp>
    </p:spTree>
    <p:extLst>
      <p:ext uri="{BB962C8B-B14F-4D97-AF65-F5344CB8AC3E}">
        <p14:creationId xmlns:p14="http://schemas.microsoft.com/office/powerpoint/2010/main" val="1601787401"/>
      </p:ext>
    </p:extLst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PROJECT </a:t>
            </a:r>
            <a:br>
              <a:rPr lang="en-US" dirty="0"/>
            </a:br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14863" y="1671637"/>
            <a:ext cx="6472237" cy="3943351"/>
          </a:xfrm>
          <a:solidFill>
            <a:srgbClr val="BCD2D6"/>
          </a:solidFill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dirty="0">
                <a:latin typeface="Aptos Display" panose="020B0004020202020204" pitchFamily="34" charset="0"/>
              </a:rPr>
              <a:t>Build a </a:t>
            </a:r>
            <a:r>
              <a:rPr lang="en-SG" b="1" dirty="0">
                <a:latin typeface="Aptos Display" panose="020B0004020202020204" pitchFamily="34" charset="0"/>
              </a:rPr>
              <a:t>secure </a:t>
            </a:r>
            <a:r>
              <a:rPr lang="en-SG" dirty="0">
                <a:latin typeface="Aptos Display" panose="020B0004020202020204" pitchFamily="34" charset="0"/>
              </a:rPr>
              <a:t>AI contract-analysis platform.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dirty="0">
                <a:latin typeface="Aptos Display" panose="020B0004020202020204" pitchFamily="34" charset="0"/>
              </a:rPr>
              <a:t>Identify </a:t>
            </a:r>
            <a:r>
              <a:rPr lang="en-SG" b="1" dirty="0">
                <a:latin typeface="Aptos Display" panose="020B0004020202020204" pitchFamily="34" charset="0"/>
              </a:rPr>
              <a:t>risky </a:t>
            </a:r>
            <a:r>
              <a:rPr lang="en-SG" dirty="0">
                <a:latin typeface="Aptos Display" panose="020B0004020202020204" pitchFamily="34" charset="0"/>
              </a:rPr>
              <a:t>and </a:t>
            </a:r>
            <a:r>
              <a:rPr lang="en-SG" b="1" dirty="0">
                <a:latin typeface="Aptos Display" panose="020B0004020202020204" pitchFamily="34" charset="0"/>
              </a:rPr>
              <a:t>unfair </a:t>
            </a:r>
            <a:r>
              <a:rPr lang="en-SG" dirty="0">
                <a:latin typeface="Aptos Display" panose="020B0004020202020204" pitchFamily="34" charset="0"/>
              </a:rPr>
              <a:t>contract clauses.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dirty="0">
                <a:latin typeface="Aptos Display" panose="020B0004020202020204" pitchFamily="34" charset="0"/>
              </a:rPr>
              <a:t>Simplify </a:t>
            </a:r>
            <a:r>
              <a:rPr lang="en-SG" b="1" dirty="0">
                <a:latin typeface="Aptos Display" panose="020B0004020202020204" pitchFamily="34" charset="0"/>
              </a:rPr>
              <a:t>complex legal </a:t>
            </a:r>
            <a:r>
              <a:rPr lang="en-SG" dirty="0">
                <a:latin typeface="Aptos Display" panose="020B0004020202020204" pitchFamily="34" charset="0"/>
              </a:rPr>
              <a:t>and employment terms.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dirty="0">
                <a:latin typeface="Aptos Display" panose="020B0004020202020204" pitchFamily="34" charset="0"/>
              </a:rPr>
              <a:t>Detect potential </a:t>
            </a:r>
            <a:r>
              <a:rPr lang="en-SG" b="1" dirty="0">
                <a:latin typeface="Aptos Display" panose="020B0004020202020204" pitchFamily="34" charset="0"/>
              </a:rPr>
              <a:t>labour-rights</a:t>
            </a:r>
            <a:r>
              <a:rPr lang="en-SG" dirty="0">
                <a:latin typeface="Aptos Display" panose="020B0004020202020204" pitchFamily="34" charset="0"/>
              </a:rPr>
              <a:t> concerns.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b="1" dirty="0">
                <a:latin typeface="Aptos Display" panose="020B0004020202020204" pitchFamily="34" charset="0"/>
              </a:rPr>
              <a:t>Generate </a:t>
            </a:r>
            <a:r>
              <a:rPr lang="en-SG" dirty="0">
                <a:latin typeface="Aptos Display" panose="020B0004020202020204" pitchFamily="34" charset="0"/>
              </a:rPr>
              <a:t>an overall contract risk score.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SG" dirty="0">
                <a:latin typeface="Aptos Display" panose="020B0004020202020204" pitchFamily="34" charset="0"/>
              </a:rPr>
              <a:t>Produce fast, </a:t>
            </a:r>
            <a:r>
              <a:rPr lang="en-SG" b="1" dirty="0">
                <a:latin typeface="Aptos Display" panose="020B0004020202020204" pitchFamily="34" charset="0"/>
              </a:rPr>
              <a:t>downloadable </a:t>
            </a:r>
            <a:r>
              <a:rPr lang="en-SG" dirty="0">
                <a:latin typeface="Aptos Display" panose="020B0004020202020204" pitchFamily="34" charset="0"/>
              </a:rPr>
              <a:t>analysis reports.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3DBB-31A6-8B1D-21A4-4962466E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57D75C-DA25-3FA6-F1B4-44E2027D13C6}"/>
              </a:ext>
            </a:extLst>
          </p:cNvPr>
          <p:cNvSpPr txBox="1"/>
          <p:nvPr/>
        </p:nvSpPr>
        <p:spPr>
          <a:xfrm>
            <a:off x="114299" y="6488667"/>
            <a:ext cx="1207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LINK: </a:t>
            </a:r>
            <a:r>
              <a:rPr lang="en-SG" dirty="0">
                <a:hlinkClick r:id="rId2"/>
              </a:rPr>
              <a:t>https://drive.google.com/file/d/1btf5uppJQ6KOjm7Ys8s8pISQU1wWf9Ua/view?usp=drive_link</a:t>
            </a:r>
            <a:r>
              <a:rPr lang="en-SG" dirty="0"/>
              <a:t>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21A3E-C615-FF1A-C3FD-3464F23C927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1"/>
            <a:ext cx="12191999" cy="648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57608"/>
      </p:ext>
    </p:extLst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PROJECT STAKEHOLDERS</a:t>
            </a:r>
            <a:endParaRPr lang="en-ZA" dirty="0">
              <a:latin typeface="Aptos Display" panose="020B0004020202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CA8701E9-2548-0E97-18B9-ABF25056F3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>
                <a:latin typeface="Aptos Display" panose="020B000402020202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Aptos Display" panose="020B00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121DA1-56A6-22CD-9D9B-98BB63767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669211"/>
              </p:ext>
            </p:extLst>
          </p:nvPr>
        </p:nvGraphicFramePr>
        <p:xfrm>
          <a:off x="1468814" y="1779641"/>
          <a:ext cx="9918324" cy="451526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096753">
                  <a:extLst>
                    <a:ext uri="{9D8B030D-6E8A-4147-A177-3AD203B41FA5}">
                      <a16:colId xmlns:a16="http://schemas.microsoft.com/office/drawing/2014/main" val="4119777749"/>
                    </a:ext>
                  </a:extLst>
                </a:gridCol>
                <a:gridCol w="2226618">
                  <a:extLst>
                    <a:ext uri="{9D8B030D-6E8A-4147-A177-3AD203B41FA5}">
                      <a16:colId xmlns:a16="http://schemas.microsoft.com/office/drawing/2014/main" val="3286419051"/>
                    </a:ext>
                  </a:extLst>
                </a:gridCol>
                <a:gridCol w="5594953">
                  <a:extLst>
                    <a:ext uri="{9D8B030D-6E8A-4147-A177-3AD203B41FA5}">
                      <a16:colId xmlns:a16="http://schemas.microsoft.com/office/drawing/2014/main" val="672665657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/>
                        <a:t>Stakeholder Group</a:t>
                      </a:r>
                      <a:endParaRPr lang="en-SG" sz="1200" b="1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/>
                        <a:t>Stakeholders Included</a:t>
                      </a:r>
                      <a:endParaRPr lang="en-SG" sz="1200" b="1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/>
                        <a:t>Role in the Project</a:t>
                      </a:r>
                      <a:endParaRPr lang="en-SG" sz="1200" b="1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1660157124"/>
                  </a:ext>
                </a:extLst>
              </a:tr>
              <a:tr h="533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/>
                        <a:t>Project Sponsor &amp; Product Governance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/>
                        <a:t>CEO(Project </a:t>
                      </a:r>
                      <a:r>
                        <a:rPr lang="en-SG" sz="1200" dirty="0"/>
                        <a:t>Sponsor )and Product Owner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Approve the project charter, product direction, major decisions, key deliverables, and final project outcomes.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2150952336"/>
                  </a:ext>
                </a:extLst>
              </a:tr>
              <a:tr h="533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/>
                        <a:t>Project Management &amp; Business Analysis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/>
                        <a:t>Shairin Akter Hashi, Project Manager, and Business Analyst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Plan and coordinate the project, gather requirements, prepare the BRD and SRS, manage risks, and monitor progress.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2576962220"/>
                  </a:ext>
                </a:extLst>
              </a:tr>
              <a:tr h="1271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/>
                        <a:t>AI, Data &amp; Software Development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AI/ML and NLP Team, AI Engineer, Data Engineer, Lead Software Engineer, Frontend Developer, Backend Developer, and Full-Stack Team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Develop the NLP model, AI risk engine, database, APIs, frontend, backend, and integrated CheckIt platform.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1099139859"/>
                  </a:ext>
                </a:extLst>
              </a:tr>
              <a:tr h="533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/>
                        <a:t>Design, Quality &amp; Security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UI/UX Designer, QA Team, and Cybersecurity Team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Design the user experience, conduct functional and security testing, and ensure system quality, privacy, and usability.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4069630003"/>
                  </a:ext>
                </a:extLst>
              </a:tr>
              <a:tr h="771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/>
                        <a:t>Legal Experts &amp; User Representatives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Legal and Employment Law Consultant, HR Professionals, Job Seekers, and Employees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Validate legal interpretations and assess the platform’s clarity, usefulness, and acceptability through user-acceptance testing.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2441508227"/>
                  </a:ext>
                </a:extLst>
              </a:tr>
              <a:tr h="533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/>
                        <a:t>Cloud, DevOps &amp; Operations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/>
                        <a:t>Cloud Engineer and DevOps Engineer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/>
                        <a:t>Configure the production environment, deploy the website, monitor system performance, and complete post-deployment verification.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0709" marR="50709" marT="25355" marB="25355" anchor="ctr"/>
                </a:tc>
                <a:extLst>
                  <a:ext uri="{0D108BD9-81ED-4DB2-BD59-A6C34878D82A}">
                    <a16:rowId xmlns:a16="http://schemas.microsoft.com/office/drawing/2014/main" val="1861690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anchor="ctr">
            <a:normAutofit/>
          </a:bodyPr>
          <a:lstStyle/>
          <a:p>
            <a:r>
              <a:rPr lang="en-ZA" dirty="0">
                <a:latin typeface="Aptos Display" panose="020B0004020202020204" pitchFamily="34" charset="0"/>
              </a:rPr>
              <a:t>PROJECT MILESTONES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>
                <a:latin typeface="Aptos Display" panose="020B000402020202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Aptos Display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3DC75D-0926-E152-E638-DD243119A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428977"/>
              </p:ext>
            </p:extLst>
          </p:nvPr>
        </p:nvGraphicFramePr>
        <p:xfrm>
          <a:off x="1468815" y="1713736"/>
          <a:ext cx="9592475" cy="452283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88703">
                  <a:extLst>
                    <a:ext uri="{9D8B030D-6E8A-4147-A177-3AD203B41FA5}">
                      <a16:colId xmlns:a16="http://schemas.microsoft.com/office/drawing/2014/main" val="2096904149"/>
                    </a:ext>
                  </a:extLst>
                </a:gridCol>
                <a:gridCol w="3354651">
                  <a:extLst>
                    <a:ext uri="{9D8B030D-6E8A-4147-A177-3AD203B41FA5}">
                      <a16:colId xmlns:a16="http://schemas.microsoft.com/office/drawing/2014/main" val="3165031260"/>
                    </a:ext>
                  </a:extLst>
                </a:gridCol>
                <a:gridCol w="1528494">
                  <a:extLst>
                    <a:ext uri="{9D8B030D-6E8A-4147-A177-3AD203B41FA5}">
                      <a16:colId xmlns:a16="http://schemas.microsoft.com/office/drawing/2014/main" val="2066684805"/>
                    </a:ext>
                  </a:extLst>
                </a:gridCol>
                <a:gridCol w="1426501">
                  <a:extLst>
                    <a:ext uri="{9D8B030D-6E8A-4147-A177-3AD203B41FA5}">
                      <a16:colId xmlns:a16="http://schemas.microsoft.com/office/drawing/2014/main" val="4217541323"/>
                    </a:ext>
                  </a:extLst>
                </a:gridCol>
                <a:gridCol w="2694126">
                  <a:extLst>
                    <a:ext uri="{9D8B030D-6E8A-4147-A177-3AD203B41FA5}">
                      <a16:colId xmlns:a16="http://schemas.microsoft.com/office/drawing/2014/main" val="2232129764"/>
                    </a:ext>
                  </a:extLst>
                </a:gridCol>
              </a:tblGrid>
              <a:tr h="304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No.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Milestone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Date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Project stage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Responsible stakeholder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2355769678"/>
                  </a:ext>
                </a:extLst>
              </a:tr>
              <a:tr h="304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>
                          <a:latin typeface="Aptos Display" panose="020B0004020202020204" pitchFamily="34" charset="0"/>
                        </a:rPr>
                        <a:t>Project Charter Approved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16 June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Planning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CEO / Project Sponsor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2827276806"/>
                  </a:ext>
                </a:extLst>
              </a:tr>
              <a:tr h="505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>
                          <a:latin typeface="Aptos Display" panose="020B0004020202020204" pitchFamily="34" charset="0"/>
                        </a:rPr>
                        <a:t>Requirements Completed – Week 2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23 June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Planning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Project Manager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1136254504"/>
                  </a:ext>
                </a:extLst>
              </a:tr>
              <a:tr h="304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 dirty="0">
                          <a:latin typeface="Aptos Display" panose="020B0004020202020204" pitchFamily="34" charset="0"/>
                        </a:rPr>
                        <a:t>UI Design Approved – Week 4</a:t>
                      </a:r>
                      <a:endParaRPr lang="en-SG" sz="1200" dirty="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7 July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Design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Product Owner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2879989273"/>
                  </a:ext>
                </a:extLst>
              </a:tr>
              <a:tr h="540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NLP Model Development Completed – Week 6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21 July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Development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AI Team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4239376946"/>
                  </a:ext>
                </a:extLst>
              </a:tr>
              <a:tr h="505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Frontend Development Completed – Week 10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4 August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Development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Frontend Team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1970400693"/>
                  </a:ext>
                </a:extLst>
              </a:tr>
              <a:tr h="505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Backend Development Completed – Week 11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7 August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Development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Backend Team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1956531004"/>
                  </a:ext>
                </a:extLst>
              </a:tr>
              <a:tr h="505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Functional Testing Completed – Week 14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30 August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Testing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QA Team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3472278032"/>
                  </a:ext>
                </a:extLst>
              </a:tr>
              <a:tr h="540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UAT Completed – Week 15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8 September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Testing and acceptance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User representatives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516629417"/>
                  </a:ext>
                </a:extLst>
              </a:tr>
              <a:tr h="5054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b="1">
                          <a:latin typeface="Aptos Display" panose="020B0004020202020204" pitchFamily="34" charset="0"/>
                        </a:rPr>
                        <a:t>Website Deployment – Week 16</a:t>
                      </a:r>
                      <a:endParaRPr lang="en-SG" sz="1200">
                        <a:latin typeface="Aptos Display" panose="020B0004020202020204" pitchFamily="34" charset="0"/>
                      </a:endParaRP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30 September 2026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>
                          <a:latin typeface="Aptos Display" panose="020B0004020202020204" pitchFamily="34" charset="0"/>
                        </a:rPr>
                        <a:t>Deployment</a:t>
                      </a:r>
                    </a:p>
                  </a:txBody>
                  <a:tcPr marL="51503" marR="51503" marT="25752" marB="2575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SG" sz="1200" dirty="0">
                          <a:latin typeface="Aptos Display" panose="020B0004020202020204" pitchFamily="34" charset="0"/>
                        </a:rPr>
                        <a:t>Project Manager / DevOps Team</a:t>
                      </a:r>
                    </a:p>
                  </a:txBody>
                  <a:tcPr marL="51503" marR="51503" marT="25752" marB="25752" anchor="ctr"/>
                </a:tc>
                <a:extLst>
                  <a:ext uri="{0D108BD9-81ED-4DB2-BD59-A6C34878D82A}">
                    <a16:rowId xmlns:a16="http://schemas.microsoft.com/office/drawing/2014/main" val="417228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30" y="755197"/>
            <a:ext cx="11926899" cy="3671887"/>
          </a:xfrm>
        </p:spPr>
        <p:txBody>
          <a:bodyPr>
            <a:normAutofit/>
          </a:bodyPr>
          <a:lstStyle/>
          <a:p>
            <a:pPr algn="ctr"/>
            <a:r>
              <a:rPr lang="en-US" sz="115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{66628A89-CE53-4689-91E5-2C99F152ABE6}TF3977e381-cba5-49b1-ba43-b5d865517af907ebbda9_win32-372d4d6ae720</Template>
  <TotalTime>53</TotalTime>
  <Words>510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Tisa Offc Serif Pro</vt:lpstr>
      <vt:lpstr>Univers Light</vt:lpstr>
      <vt:lpstr>Wingdings</vt:lpstr>
      <vt:lpstr>Custom</vt:lpstr>
      <vt:lpstr>CheckIt AI Assisted Employment Contract Risk Analyzer</vt:lpstr>
      <vt:lpstr>Course Title: Entrepreneurship &amp; Project Management Course Code: AIML501                Semester: Summer 2026             Section: 01   </vt:lpstr>
      <vt:lpstr>PROJECT  OBJECTIVES</vt:lpstr>
      <vt:lpstr>PowerPoint Presentation</vt:lpstr>
      <vt:lpstr>PROJECT STAKEHOLDERS</vt:lpstr>
      <vt:lpstr>PROJECT MILESTONES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Shairin Akter</dc:creator>
  <cp:lastModifiedBy>Shairin Akter</cp:lastModifiedBy>
  <cp:revision>3</cp:revision>
  <dcterms:created xsi:type="dcterms:W3CDTF">2026-07-29T12:46:02Z</dcterms:created>
  <dcterms:modified xsi:type="dcterms:W3CDTF">2026-07-30T15:44:52Z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